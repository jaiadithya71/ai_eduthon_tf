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914400"/>
          </a:xfrm>
          <a:prstGeom prst="rect">
            <a:avLst/>
          </a:prstGeom>
          <a:noFill/>
        </p:spPr>
        <p:txBody>
          <a:bodyPr wrap="square">
            <a:spAutoFit/>
          </a:bodyPr>
          <a:lstStyle/>
          <a:p>
            <a:pPr>
              <a:defRPr sz="3000" b="1"/>
            </a:pPr>
            <a:r>
              <a:t>Human Digestive System</a:t>
            </a:r>
          </a:p>
        </p:txBody>
      </p:sp>
      <p:sp>
        <p:nvSpPr>
          <p:cNvPr id="3" name="TextBox 2"/>
          <p:cNvSpPr txBox="1"/>
          <p:nvPr/>
        </p:nvSpPr>
        <p:spPr>
          <a:xfrm>
            <a:off x="274320" y="1188720"/>
            <a:ext cx="4206240" cy="5029200"/>
          </a:xfrm>
          <a:prstGeom prst="rect">
            <a:avLst/>
          </a:prstGeom>
          <a:noFill/>
        </p:spPr>
        <p:txBody>
          <a:bodyPr wrap="square">
            <a:spAutoFit/>
          </a:bodyPr>
          <a:lstStyle/>
          <a:p>
            <a:pPr>
              <a:lnSpc>
                <a:spcPct val="120000"/>
              </a:lnSpc>
              <a:spcBef>
                <a:spcPts val="200"/>
              </a:spcBef>
              <a:spcAft>
                <a:spcPts val="600"/>
              </a:spcAft>
              <a:defRPr sz="1800" b="0"/>
            </a:pPr>
            <a:r>
              <a:t>• The human digestive system is a complex process that involves the breakdown and absorption of nutrients from the food we eat.</a:t>
            </a:r>
          </a:p>
          <a:p>
            <a:pPr>
              <a:lnSpc>
                <a:spcPct val="120000"/>
              </a:lnSpc>
              <a:spcBef>
                <a:spcPts val="200"/>
              </a:spcBef>
              <a:spcAft>
                <a:spcPts val="600"/>
              </a:spcAft>
              <a:defRPr sz="1800" b="0"/>
            </a:pPr>
            <a:r>
              <a:t>• It is essential for our body to function properly and maintain overall health.</a:t>
            </a:r>
          </a:p>
          <a:p>
            <a:pPr>
              <a:lnSpc>
                <a:spcPct val="120000"/>
              </a:lnSpc>
              <a:spcBef>
                <a:spcPts val="200"/>
              </a:spcBef>
              <a:spcAft>
                <a:spcPts val="600"/>
              </a:spcAft>
              <a:defRPr sz="1800" b="0"/>
            </a:pPr>
            <a:r>
              <a:t>• In this presentation, we will explore the different parts of the digestive system and their functions.</a:t>
            </a:r>
          </a:p>
          <a:p>
            <a:pPr>
              <a:lnSpc>
                <a:spcPct val="120000"/>
              </a:lnSpc>
              <a:spcBef>
                <a:spcPts val="200"/>
              </a:spcBef>
              <a:spcAft>
                <a:spcPts val="600"/>
              </a:spcAft>
              <a:defRPr sz="1800" b="0"/>
            </a:pPr>
            <a:r>
              <a:t>• We will also learn about the importance of a healthy diet and how it affects our digestive system.</a:t>
            </a:r>
          </a:p>
          <a:p>
            <a:pPr>
              <a:lnSpc>
                <a:spcPct val="120000"/>
              </a:lnSpc>
              <a:spcBef>
                <a:spcPts val="200"/>
              </a:spcBef>
              <a:spcAft>
                <a:spcPts val="600"/>
              </a:spcAft>
              <a:defRPr sz="1800" b="0"/>
            </a:pPr>
            <a:r>
              <a:t>• By the end of this presentation, you will have a better understanding of how your body processes food and how to maintain a healthy digestive system.</a:t>
            </a:r>
          </a:p>
        </p:txBody>
      </p:sp>
      <p:pic>
        <p:nvPicPr>
          <p:cNvPr id="4" name="Picture 3" descr="image.jpg"/>
          <p:cNvPicPr>
            <a:picLocks noChangeAspect="1"/>
          </p:cNvPicPr>
          <p:nvPr/>
        </p:nvPicPr>
        <p:blipFill>
          <a:blip r:embed="rId2"/>
          <a:stretch>
            <a:fillRect/>
          </a:stretch>
        </p:blipFill>
        <p:spPr>
          <a:xfrm>
            <a:off x="4663440" y="2452976"/>
            <a:ext cx="3749039" cy="2500688"/>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914400"/>
          </a:xfrm>
          <a:prstGeom prst="rect">
            <a:avLst/>
          </a:prstGeom>
          <a:noFill/>
        </p:spPr>
        <p:txBody>
          <a:bodyPr wrap="square">
            <a:spAutoFit/>
          </a:bodyPr>
          <a:lstStyle/>
          <a:p>
            <a:pPr>
              <a:defRPr sz="3000" b="1"/>
            </a:pPr>
            <a:r>
              <a:t>Introduction to the Digestive System</a:t>
            </a:r>
          </a:p>
        </p:txBody>
      </p:sp>
      <p:sp>
        <p:nvSpPr>
          <p:cNvPr id="3" name="TextBox 2"/>
          <p:cNvSpPr txBox="1"/>
          <p:nvPr/>
        </p:nvSpPr>
        <p:spPr>
          <a:xfrm>
            <a:off x="274320" y="1188720"/>
            <a:ext cx="4206240" cy="5029200"/>
          </a:xfrm>
          <a:prstGeom prst="rect">
            <a:avLst/>
          </a:prstGeom>
          <a:noFill/>
        </p:spPr>
        <p:txBody>
          <a:bodyPr wrap="square">
            <a:spAutoFit/>
          </a:bodyPr>
          <a:lstStyle/>
          <a:p>
            <a:pPr>
              <a:lnSpc>
                <a:spcPct val="120000"/>
              </a:lnSpc>
              <a:spcBef>
                <a:spcPts val="200"/>
              </a:spcBef>
              <a:spcAft>
                <a:spcPts val="600"/>
              </a:spcAft>
              <a:defRPr sz="1800" b="0"/>
            </a:pPr>
            <a:r>
              <a:t>• The digestive system is a long, winding tube that starts at the mouth and ends at the anus.</a:t>
            </a:r>
          </a:p>
          <a:p>
            <a:pPr>
              <a:lnSpc>
                <a:spcPct val="120000"/>
              </a:lnSpc>
              <a:spcBef>
                <a:spcPts val="200"/>
              </a:spcBef>
              <a:spcAft>
                <a:spcPts val="600"/>
              </a:spcAft>
              <a:defRPr sz="1800" b="0"/>
            </a:pPr>
            <a:r>
              <a:t>• It is responsible for breaking down the food we eat into smaller molecules that can be absorbed and used by the body.</a:t>
            </a:r>
          </a:p>
          <a:p>
            <a:pPr>
              <a:lnSpc>
                <a:spcPct val="120000"/>
              </a:lnSpc>
              <a:spcBef>
                <a:spcPts val="200"/>
              </a:spcBef>
              <a:spcAft>
                <a:spcPts val="600"/>
              </a:spcAft>
              <a:defRPr sz="1800" b="0"/>
            </a:pPr>
            <a:r>
              <a:t>• The digestive system is made up of several organs, including the mouth, esophagus, stomach, small intestine, and large intestine.</a:t>
            </a:r>
          </a:p>
          <a:p>
            <a:pPr>
              <a:lnSpc>
                <a:spcPct val="120000"/>
              </a:lnSpc>
              <a:spcBef>
                <a:spcPts val="200"/>
              </a:spcBef>
              <a:spcAft>
                <a:spcPts val="600"/>
              </a:spcAft>
              <a:defRPr sz="1800" b="0"/>
            </a:pPr>
            <a:r>
              <a:t>• Each of these organs plays a unique role in the digestion and absorption of nutrients.</a:t>
            </a:r>
          </a:p>
          <a:p>
            <a:pPr>
              <a:lnSpc>
                <a:spcPct val="120000"/>
              </a:lnSpc>
              <a:spcBef>
                <a:spcPts val="200"/>
              </a:spcBef>
              <a:spcAft>
                <a:spcPts val="600"/>
              </a:spcAft>
              <a:defRPr sz="1800" b="0"/>
            </a:pPr>
            <a:r>
              <a:t>• The digestive system also includes accessory organs, such as the pancreas and liver, which produce digestive enzymes and bile to help break down food.</a:t>
            </a:r>
          </a:p>
        </p:txBody>
      </p:sp>
      <p:pic>
        <p:nvPicPr>
          <p:cNvPr id="4" name="Picture 3" descr="image.jpg"/>
          <p:cNvPicPr>
            <a:picLocks noChangeAspect="1"/>
          </p:cNvPicPr>
          <p:nvPr/>
        </p:nvPicPr>
        <p:blipFill>
          <a:blip r:embed="rId2"/>
          <a:stretch>
            <a:fillRect/>
          </a:stretch>
        </p:blipFill>
        <p:spPr>
          <a:xfrm>
            <a:off x="4663440" y="2452976"/>
            <a:ext cx="3749039" cy="250068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914400"/>
          </a:xfrm>
          <a:prstGeom prst="rect">
            <a:avLst/>
          </a:prstGeom>
          <a:noFill/>
        </p:spPr>
        <p:txBody>
          <a:bodyPr wrap="square">
            <a:spAutoFit/>
          </a:bodyPr>
          <a:lstStyle/>
          <a:p>
            <a:pPr>
              <a:defRPr sz="3000" b="1"/>
            </a:pPr>
            <a:r>
              <a:t>The Mouth and Esophagus</a:t>
            </a:r>
          </a:p>
        </p:txBody>
      </p:sp>
      <p:sp>
        <p:nvSpPr>
          <p:cNvPr id="3" name="TextBox 2"/>
          <p:cNvSpPr txBox="1"/>
          <p:nvPr/>
        </p:nvSpPr>
        <p:spPr>
          <a:xfrm>
            <a:off x="274320" y="1188720"/>
            <a:ext cx="4206240" cy="5029200"/>
          </a:xfrm>
          <a:prstGeom prst="rect">
            <a:avLst/>
          </a:prstGeom>
          <a:noFill/>
        </p:spPr>
        <p:txBody>
          <a:bodyPr wrap="square">
            <a:spAutoFit/>
          </a:bodyPr>
          <a:lstStyle/>
          <a:p>
            <a:pPr>
              <a:lnSpc>
                <a:spcPct val="120000"/>
              </a:lnSpc>
              <a:spcBef>
                <a:spcPts val="200"/>
              </a:spcBef>
              <a:spcAft>
                <a:spcPts val="600"/>
              </a:spcAft>
              <a:defRPr sz="1800" b="0"/>
            </a:pPr>
            <a:r>
              <a:t>• The mouth is the beginning of the digestive system, where food is broken down into smaller pieces by the teeth and mixed with saliva that contains enzymes to break down carbohydrates.</a:t>
            </a:r>
          </a:p>
          <a:p>
            <a:pPr>
              <a:lnSpc>
                <a:spcPct val="120000"/>
              </a:lnSpc>
              <a:spcBef>
                <a:spcPts val="200"/>
              </a:spcBef>
              <a:spcAft>
                <a:spcPts val="600"/>
              </a:spcAft>
              <a:defRPr sz="1800" b="0"/>
            </a:pPr>
            <a:r>
              <a:t>• The esophagus is a muscular tube that carries food from the mouth to the stomach using a process called peristalsis.</a:t>
            </a:r>
          </a:p>
          <a:p>
            <a:pPr>
              <a:lnSpc>
                <a:spcPct val="120000"/>
              </a:lnSpc>
              <a:spcBef>
                <a:spcPts val="200"/>
              </a:spcBef>
              <a:spcAft>
                <a:spcPts val="600"/>
              </a:spcAft>
              <a:defRPr sz="1800" b="0"/>
            </a:pPr>
            <a:r>
              <a:t>• The esophagus is lined with mucous membranes that help to lubricate food and make it easier to swallow.</a:t>
            </a:r>
          </a:p>
          <a:p>
            <a:pPr>
              <a:lnSpc>
                <a:spcPct val="120000"/>
              </a:lnSpc>
              <a:spcBef>
                <a:spcPts val="200"/>
              </a:spcBef>
              <a:spcAft>
                <a:spcPts val="600"/>
              </a:spcAft>
              <a:defRPr sz="1800" b="0"/>
            </a:pPr>
            <a:r>
              <a:t>• The mouth and esophagus work together to prepare food for digestion in the stomach.</a:t>
            </a:r>
          </a:p>
          <a:p>
            <a:pPr>
              <a:lnSpc>
                <a:spcPct val="120000"/>
              </a:lnSpc>
              <a:spcBef>
                <a:spcPts val="200"/>
              </a:spcBef>
              <a:spcAft>
                <a:spcPts val="600"/>
              </a:spcAft>
              <a:defRPr sz="1800" b="0"/>
            </a:pPr>
            <a:r>
              <a:t>• The stomach is a sac-like organ that produces digestive enzymes and acids to break down proteins and fats.</a:t>
            </a:r>
          </a:p>
        </p:txBody>
      </p:sp>
      <p:pic>
        <p:nvPicPr>
          <p:cNvPr id="4" name="Picture 3" descr="image.jpg"/>
          <p:cNvPicPr>
            <a:picLocks noChangeAspect="1"/>
          </p:cNvPicPr>
          <p:nvPr/>
        </p:nvPicPr>
        <p:blipFill>
          <a:blip r:embed="rId2"/>
          <a:stretch>
            <a:fillRect/>
          </a:stretch>
        </p:blipFill>
        <p:spPr>
          <a:xfrm>
            <a:off x="4663440" y="2452976"/>
            <a:ext cx="3749039" cy="250068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914400"/>
          </a:xfrm>
          <a:prstGeom prst="rect">
            <a:avLst/>
          </a:prstGeom>
          <a:noFill/>
        </p:spPr>
        <p:txBody>
          <a:bodyPr wrap="square">
            <a:spAutoFit/>
          </a:bodyPr>
          <a:lstStyle/>
          <a:p>
            <a:pPr>
              <a:defRPr sz="3000" b="1"/>
            </a:pPr>
            <a:r>
              <a:t>The Stomach and Small Intestine</a:t>
            </a:r>
          </a:p>
        </p:txBody>
      </p:sp>
      <p:sp>
        <p:nvSpPr>
          <p:cNvPr id="3" name="TextBox 2"/>
          <p:cNvSpPr txBox="1"/>
          <p:nvPr/>
        </p:nvSpPr>
        <p:spPr>
          <a:xfrm>
            <a:off x="274320" y="1188720"/>
            <a:ext cx="4206240" cy="5029200"/>
          </a:xfrm>
          <a:prstGeom prst="rect">
            <a:avLst/>
          </a:prstGeom>
          <a:noFill/>
        </p:spPr>
        <p:txBody>
          <a:bodyPr wrap="square">
            <a:spAutoFit/>
          </a:bodyPr>
          <a:lstStyle/>
          <a:p>
            <a:pPr>
              <a:lnSpc>
                <a:spcPct val="120000"/>
              </a:lnSpc>
              <a:spcBef>
                <a:spcPts val="200"/>
              </a:spcBef>
              <a:spcAft>
                <a:spcPts val="600"/>
              </a:spcAft>
              <a:defRPr sz="1800" b="0"/>
            </a:pPr>
            <a:r>
              <a:t>• The stomach is a sac-like organ that produces digestive enzymes and acids to break down proteins and fats.</a:t>
            </a:r>
          </a:p>
          <a:p>
            <a:pPr>
              <a:lnSpc>
                <a:spcPct val="120000"/>
              </a:lnSpc>
              <a:spcBef>
                <a:spcPts val="200"/>
              </a:spcBef>
              <a:spcAft>
                <a:spcPts val="600"/>
              </a:spcAft>
              <a:defRPr sz="1800" b="0"/>
            </a:pPr>
            <a:r>
              <a:t>• The stomach churns and mixes food with these enzymes and acids for about an hour, breaking it down into a liquid mixture called chyme.</a:t>
            </a:r>
          </a:p>
          <a:p>
            <a:pPr>
              <a:lnSpc>
                <a:spcPct val="120000"/>
              </a:lnSpc>
              <a:spcBef>
                <a:spcPts val="200"/>
              </a:spcBef>
              <a:spcAft>
                <a:spcPts val="600"/>
              </a:spcAft>
              <a:defRPr sz="1800" b="0"/>
            </a:pPr>
            <a:r>
              <a:t>• The small intestine is a long, thin tube where most of our nutrient absorption takes place.</a:t>
            </a:r>
          </a:p>
          <a:p>
            <a:pPr>
              <a:lnSpc>
                <a:spcPct val="120000"/>
              </a:lnSpc>
              <a:spcBef>
                <a:spcPts val="200"/>
              </a:spcBef>
              <a:spcAft>
                <a:spcPts val="600"/>
              </a:spcAft>
              <a:defRPr sz="1800" b="0"/>
            </a:pPr>
            <a:r>
              <a:t>• The walls of the small intestine are lined with finger-like projections called villi, which increase the surface area for absorption.</a:t>
            </a:r>
          </a:p>
          <a:p>
            <a:pPr>
              <a:lnSpc>
                <a:spcPct val="120000"/>
              </a:lnSpc>
              <a:spcBef>
                <a:spcPts val="200"/>
              </a:spcBef>
              <a:spcAft>
                <a:spcPts val="600"/>
              </a:spcAft>
              <a:defRPr sz="1800" b="0"/>
            </a:pPr>
            <a:r>
              <a:t>• The small intestine is also where most of our vitamin and mineral absorption takes place.</a:t>
            </a:r>
          </a:p>
        </p:txBody>
      </p:sp>
      <p:pic>
        <p:nvPicPr>
          <p:cNvPr id="4" name="Picture 3" descr="image.jpg"/>
          <p:cNvPicPr>
            <a:picLocks noChangeAspect="1"/>
          </p:cNvPicPr>
          <p:nvPr/>
        </p:nvPicPr>
        <p:blipFill>
          <a:blip r:embed="rId2"/>
          <a:stretch>
            <a:fillRect/>
          </a:stretch>
        </p:blipFill>
        <p:spPr>
          <a:xfrm>
            <a:off x="4663440" y="2452976"/>
            <a:ext cx="3749039" cy="250068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914400"/>
          </a:xfrm>
          <a:prstGeom prst="rect">
            <a:avLst/>
          </a:prstGeom>
          <a:noFill/>
        </p:spPr>
        <p:txBody>
          <a:bodyPr wrap="square">
            <a:spAutoFit/>
          </a:bodyPr>
          <a:lstStyle/>
          <a:p>
            <a:pPr>
              <a:defRPr sz="3000" b="1"/>
            </a:pPr>
            <a:r>
              <a:t>The Large Intestine and Accessory Organs</a:t>
            </a:r>
          </a:p>
        </p:txBody>
      </p:sp>
      <p:sp>
        <p:nvSpPr>
          <p:cNvPr id="3" name="TextBox 2"/>
          <p:cNvSpPr txBox="1"/>
          <p:nvPr/>
        </p:nvSpPr>
        <p:spPr>
          <a:xfrm>
            <a:off x="274320" y="1188720"/>
            <a:ext cx="4206240" cy="5029200"/>
          </a:xfrm>
          <a:prstGeom prst="rect">
            <a:avLst/>
          </a:prstGeom>
          <a:noFill/>
        </p:spPr>
        <p:txBody>
          <a:bodyPr wrap="square">
            <a:spAutoFit/>
          </a:bodyPr>
          <a:lstStyle/>
          <a:p>
            <a:pPr>
              <a:lnSpc>
                <a:spcPct val="120000"/>
              </a:lnSpc>
              <a:spcBef>
                <a:spcPts val="200"/>
              </a:spcBef>
              <a:spcAft>
                <a:spcPts val="600"/>
              </a:spcAft>
              <a:defRPr sz="1800" b="0"/>
            </a:pPr>
            <a:r>
              <a:t>• The large intestine, also known as the colon, is a wide, thin tube that absorbs water and electrolytes from the remaining waste material.</a:t>
            </a:r>
          </a:p>
          <a:p>
            <a:pPr>
              <a:lnSpc>
                <a:spcPct val="120000"/>
              </a:lnSpc>
              <a:spcBef>
                <a:spcPts val="200"/>
              </a:spcBef>
              <a:spcAft>
                <a:spcPts val="600"/>
              </a:spcAft>
              <a:defRPr sz="1800" b="0"/>
            </a:pPr>
            <a:r>
              <a:t>• The large intestine is also home to trillions of microorganisms, known as the gut microbiome, which play a crucial role in our overall health.</a:t>
            </a:r>
          </a:p>
          <a:p>
            <a:pPr>
              <a:lnSpc>
                <a:spcPct val="120000"/>
              </a:lnSpc>
              <a:spcBef>
                <a:spcPts val="200"/>
              </a:spcBef>
              <a:spcAft>
                <a:spcPts val="600"/>
              </a:spcAft>
              <a:defRPr sz="1800" b="0"/>
            </a:pPr>
            <a:r>
              <a:t>• The pancreas is an accessory organ that produces digestive enzymes to break down carbohydrates, proteins, and fats.</a:t>
            </a:r>
          </a:p>
          <a:p>
            <a:pPr>
              <a:lnSpc>
                <a:spcPct val="120000"/>
              </a:lnSpc>
              <a:spcBef>
                <a:spcPts val="200"/>
              </a:spcBef>
              <a:spcAft>
                <a:spcPts val="600"/>
              </a:spcAft>
              <a:defRPr sz="1800" b="0"/>
            </a:pPr>
            <a:r>
              <a:t>• The liver is another accessory organ that produces bile to help break down fats and absorbs vitamins and minerals.</a:t>
            </a:r>
          </a:p>
          <a:p>
            <a:pPr>
              <a:lnSpc>
                <a:spcPct val="120000"/>
              </a:lnSpc>
              <a:spcBef>
                <a:spcPts val="200"/>
              </a:spcBef>
              <a:spcAft>
                <a:spcPts val="600"/>
              </a:spcAft>
              <a:defRPr sz="1800" b="0"/>
            </a:pPr>
            <a:r>
              <a:t>• The gallbladder stores bile from the liver and releases it into the small intestine to aid in fat digestion.</a:t>
            </a:r>
          </a:p>
        </p:txBody>
      </p:sp>
      <p:pic>
        <p:nvPicPr>
          <p:cNvPr id="4" name="Picture 3" descr="image.jpg"/>
          <p:cNvPicPr>
            <a:picLocks noChangeAspect="1"/>
          </p:cNvPicPr>
          <p:nvPr/>
        </p:nvPicPr>
        <p:blipFill>
          <a:blip r:embed="rId2"/>
          <a:stretch>
            <a:fillRect/>
          </a:stretch>
        </p:blipFill>
        <p:spPr>
          <a:xfrm>
            <a:off x="4663440" y="2452976"/>
            <a:ext cx="3749039" cy="250068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914400"/>
          </a:xfrm>
          <a:prstGeom prst="rect">
            <a:avLst/>
          </a:prstGeom>
          <a:noFill/>
        </p:spPr>
        <p:txBody>
          <a:bodyPr wrap="square">
            <a:spAutoFit/>
          </a:bodyPr>
          <a:lstStyle/>
          <a:p>
            <a:pPr>
              <a:defRPr sz="3000" b="1"/>
            </a:pPr>
            <a:r>
              <a:t>Quiz Time!</a:t>
            </a:r>
          </a:p>
        </p:txBody>
      </p:sp>
      <p:sp>
        <p:nvSpPr>
          <p:cNvPr id="3" name="TextBox 2"/>
          <p:cNvSpPr txBox="1"/>
          <p:nvPr/>
        </p:nvSpPr>
        <p:spPr>
          <a:xfrm>
            <a:off x="274320" y="1188720"/>
            <a:ext cx="4206240" cy="5029200"/>
          </a:xfrm>
          <a:prstGeom prst="rect">
            <a:avLst/>
          </a:prstGeom>
          <a:noFill/>
        </p:spPr>
        <p:txBody>
          <a:bodyPr wrap="square">
            <a:spAutoFit/>
          </a:bodyPr>
          <a:lstStyle/>
          <a:p>
            <a:pPr>
              <a:lnSpc>
                <a:spcPct val="120000"/>
              </a:lnSpc>
              <a:spcBef>
                <a:spcPts val="200"/>
              </a:spcBef>
              <a:spcAft>
                <a:spcPts val="600"/>
              </a:spcAft>
              <a:defRPr sz="1800" b="0"/>
            </a:pPr>
            <a:r>
              <a:t>• What is the main function of the stomach in the digestive system?</a:t>
            </a:r>
          </a:p>
          <a:p>
            <a:pPr>
              <a:lnSpc>
                <a:spcPct val="120000"/>
              </a:lnSpc>
              <a:spcBef>
                <a:spcPts val="200"/>
              </a:spcBef>
              <a:spcAft>
                <a:spcPts val="600"/>
              </a:spcAft>
              <a:defRPr sz="1800" b="0"/>
            </a:pPr>
            <a:r>
              <a:t>• What is the role of the small intestine in the digestive process?</a:t>
            </a:r>
          </a:p>
          <a:p>
            <a:pPr>
              <a:lnSpc>
                <a:spcPct val="120000"/>
              </a:lnSpc>
              <a:spcBef>
                <a:spcPts val="200"/>
              </a:spcBef>
              <a:spcAft>
                <a:spcPts val="600"/>
              </a:spcAft>
              <a:defRPr sz="1800" b="0"/>
            </a:pPr>
            <a:r>
              <a:t>• What is the function of the pancreas in the digestive system?</a:t>
            </a:r>
          </a:p>
          <a:p>
            <a:pPr>
              <a:lnSpc>
                <a:spcPct val="120000"/>
              </a:lnSpc>
              <a:spcBef>
                <a:spcPts val="200"/>
              </a:spcBef>
              <a:spcAft>
                <a:spcPts val="600"/>
              </a:spcAft>
              <a:defRPr sz="1800" b="0"/>
            </a:pPr>
            <a:r>
              <a:t>• What is the role of the liver in the digestive process?</a:t>
            </a:r>
          </a:p>
          <a:p>
            <a:pPr>
              <a:lnSpc>
                <a:spcPct val="120000"/>
              </a:lnSpc>
              <a:spcBef>
                <a:spcPts val="200"/>
              </a:spcBef>
              <a:spcAft>
                <a:spcPts val="600"/>
              </a:spcAft>
              <a:defRPr sz="1800" b="0"/>
            </a:pPr>
            <a:r>
              <a:t>• What is the function of the gallbladder in the digestive system?</a:t>
            </a:r>
          </a:p>
        </p:txBody>
      </p:sp>
      <p:pic>
        <p:nvPicPr>
          <p:cNvPr id="4" name="Picture 3" descr="image.jpg"/>
          <p:cNvPicPr>
            <a:picLocks noChangeAspect="1"/>
          </p:cNvPicPr>
          <p:nvPr/>
        </p:nvPicPr>
        <p:blipFill>
          <a:blip r:embed="rId2"/>
          <a:stretch>
            <a:fillRect/>
          </a:stretch>
        </p:blipFill>
        <p:spPr>
          <a:xfrm>
            <a:off x="4663440" y="2452976"/>
            <a:ext cx="3749039" cy="250068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412480" cy="914400"/>
          </a:xfrm>
          <a:prstGeom prst="rect">
            <a:avLst/>
          </a:prstGeom>
          <a:noFill/>
        </p:spPr>
        <p:txBody>
          <a:bodyPr wrap="square">
            <a:spAutoFit/>
          </a:bodyPr>
          <a:lstStyle/>
          <a:p>
            <a:pPr>
              <a:defRPr sz="3000" b="1"/>
            </a:pPr>
            <a:r>
              <a:t>Summary</a:t>
            </a:r>
          </a:p>
        </p:txBody>
      </p:sp>
      <p:sp>
        <p:nvSpPr>
          <p:cNvPr id="3" name="TextBox 2"/>
          <p:cNvSpPr txBox="1"/>
          <p:nvPr/>
        </p:nvSpPr>
        <p:spPr>
          <a:xfrm>
            <a:off x="274320" y="1188720"/>
            <a:ext cx="4206240" cy="5029200"/>
          </a:xfrm>
          <a:prstGeom prst="rect">
            <a:avLst/>
          </a:prstGeom>
          <a:noFill/>
        </p:spPr>
        <p:txBody>
          <a:bodyPr wrap="square">
            <a:spAutoFit/>
          </a:bodyPr>
          <a:lstStyle/>
          <a:p>
            <a:pPr>
              <a:lnSpc>
                <a:spcPct val="120000"/>
              </a:lnSpc>
              <a:spcBef>
                <a:spcPts val="200"/>
              </a:spcBef>
              <a:spcAft>
                <a:spcPts val="600"/>
              </a:spcAft>
              <a:defRPr sz="1800" b="0"/>
            </a:pPr>
            <a:r>
              <a:t>• The human digestive system is a complex process that involves the breakdown and absorption of nutrients from the food we eat.</a:t>
            </a:r>
          </a:p>
          <a:p>
            <a:pPr>
              <a:lnSpc>
                <a:spcPct val="120000"/>
              </a:lnSpc>
              <a:spcBef>
                <a:spcPts val="200"/>
              </a:spcBef>
              <a:spcAft>
                <a:spcPts val="600"/>
              </a:spcAft>
              <a:defRPr sz="1800" b="0"/>
            </a:pPr>
            <a:r>
              <a:t>• The digestive system is made up of several organs, including the mouth, esophagus, stomach, small intestine, and large intestine.</a:t>
            </a:r>
          </a:p>
          <a:p>
            <a:pPr>
              <a:lnSpc>
                <a:spcPct val="120000"/>
              </a:lnSpc>
              <a:spcBef>
                <a:spcPts val="200"/>
              </a:spcBef>
              <a:spcAft>
                <a:spcPts val="600"/>
              </a:spcAft>
              <a:defRPr sz="1800" b="0"/>
            </a:pPr>
            <a:r>
              <a:t>• Each of these organs plays a unique role in the digestion and absorption of nutrients.</a:t>
            </a:r>
          </a:p>
          <a:p>
            <a:pPr>
              <a:lnSpc>
                <a:spcPct val="120000"/>
              </a:lnSpc>
              <a:spcBef>
                <a:spcPts val="200"/>
              </a:spcBef>
              <a:spcAft>
                <a:spcPts val="600"/>
              </a:spcAft>
              <a:defRPr sz="1800" b="0"/>
            </a:pPr>
            <a:r>
              <a:t>• The digestive system also includes accessory organs, such as the pancreas and liver, which produce digestive enzymes and bile to aid in digestion.</a:t>
            </a:r>
          </a:p>
          <a:p>
            <a:pPr>
              <a:lnSpc>
                <a:spcPct val="120000"/>
              </a:lnSpc>
              <a:spcBef>
                <a:spcPts val="200"/>
              </a:spcBef>
              <a:spcAft>
                <a:spcPts val="600"/>
              </a:spcAft>
              <a:defRPr sz="1800" b="0"/>
            </a:pPr>
            <a:r>
              <a:t>• Maintaining a healthy digestive system is essential for overall health and well-being.</a:t>
            </a:r>
          </a:p>
        </p:txBody>
      </p:sp>
      <p:pic>
        <p:nvPicPr>
          <p:cNvPr id="4" name="Picture 3" descr="image.jpg"/>
          <p:cNvPicPr>
            <a:picLocks noChangeAspect="1"/>
          </p:cNvPicPr>
          <p:nvPr/>
        </p:nvPicPr>
        <p:blipFill>
          <a:blip r:embed="rId2"/>
          <a:stretch>
            <a:fillRect/>
          </a:stretch>
        </p:blipFill>
        <p:spPr>
          <a:xfrm>
            <a:off x="4663440" y="2452976"/>
            <a:ext cx="3749039" cy="250068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